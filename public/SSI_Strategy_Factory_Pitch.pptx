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Revenue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
$100M AUM</c:v>
                  </c:pt>
                  <c:pt idx="1">
                    <c:v>Year 2
$1B AUM</c:v>
                  </c:pt>
                  <c:pt idx="2">
                    <c:v>Year 3
$10B AUM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1500</c:v>
                </c:pt>
                <c:pt idx="2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0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E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0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0C2C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274320"/>
          </a:xfrm>
          <a:prstGeom prst="rect">
            <a:avLst>
              <a:gd name="adj" fmla="val 16667"/>
            </a:avLst>
          </a:prstGeom>
          <a:solidFill>
            <a:srgbClr val="6C63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85FF"/>
                </a:solidFill>
              </a:rPr>
              <a:t>SOSOVALUE BUILDATHON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SSI Strategy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Factory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for On-Chain Index Products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572000" cy="27432"/>
          </a:xfrm>
          <a:prstGeom prst="rect">
            <a:avLst/>
          </a:prstGeom>
          <a:solidFill>
            <a:srgbClr val="8892A4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A4"/>
                </a:solidFill>
              </a:rPr>
              <a:t>May 2026  ·  Built on SSI Protocol + SoSoValue + SoDEX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 traders. Zero tools to create &amp; monetize their own indices.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554480"/>
          </a:xfrm>
          <a:prstGeom prst="rect">
            <a:avLst/>
          </a:prstGeom>
          <a:solidFill>
            <a:srgbClr val="131D35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04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Can't Create Indices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8562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Building on-chain index baskets requires smart contract expertise most traders don't have.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4023360" cy="1554480"/>
          </a:xfrm>
          <a:prstGeom prst="rect">
            <a:avLst/>
          </a:prstGeom>
          <a:solidFill>
            <a:srgbClr val="131D35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904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2180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Monetization Path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37760" y="18562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Expert traders share alpha for free. No platform lets them earn recurring fees from followers.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063240"/>
            <a:ext cx="4023360" cy="1554480"/>
          </a:xfrm>
          <a:prstGeom prst="rect">
            <a:avLst/>
          </a:prstGeom>
          <a:solidFill>
            <a:srgbClr val="131D35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2783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3200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&amp; Expensive Rebalancing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35935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Index rebalancing is complex, costly, and error-prone — requiring expensive fund managers.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063240"/>
            <a:ext cx="4023360" cy="1554480"/>
          </a:xfrm>
          <a:prstGeom prst="rect">
            <a:avLst/>
          </a:prstGeom>
          <a:solidFill>
            <a:srgbClr val="131D35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2783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21808" y="3200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Limited On-Chain Options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37760" y="35935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95% of crypto index products are centralized (Grayscale, Vanguard). DeFi is underserved.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$500B+ crypto index market  ·  90% centralized  ·  0 no-code platforms for creators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85FF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One platform to create, publish &amp; monetize on-chain index baskets.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246120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6C63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7276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762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Thesis Builder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Enter investment thesis. AI pulls SoSoValue sentiment data, selects top tokens, generates description.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724912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1417320"/>
            <a:ext cx="2697480" cy="3246120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1554480"/>
            <a:ext cx="502920" cy="502920"/>
          </a:xfrm>
          <a:prstGeom prst="ellipse">
            <a:avLst/>
          </a:prstGeom>
          <a:solidFill>
            <a:srgbClr val="00C2CB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33375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02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5727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21762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Publish to Marketplace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337560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Name your basket, set fees (1% mgmt, 10% perf). One click to go live for followers to invest in.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724912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080760" y="1417320"/>
            <a:ext cx="2697480" cy="3246120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17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03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57276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920" y="21762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Earn Recurring Revenue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217920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Auto-rebalances monthly via SoDEX. Creator earns 85% of all fees. Platform takes 15%.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Example: "AI tokens will dominate"  →  8 tokens selected  →  "AI Renaissance Basket" live in 5 min  →  $500k AUM, $3.5k/mo creator earnings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No-code basket creation powered by SoSoValue sentiment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212080" cy="3794760"/>
          </a:xfrm>
          <a:prstGeom prst="rect">
            <a:avLst/>
          </a:prstGeom>
          <a:solidFill>
            <a:srgbClr val="0D1525"/>
          </a:solidFill>
          <a:ln w="6350">
            <a:solidFill>
              <a:srgbClr val="00C2CB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212080" cy="347472"/>
          </a:xfrm>
          <a:prstGeom prst="rect">
            <a:avLst/>
          </a:prstGeom>
          <a:solidFill>
            <a:srgbClr val="00C2CB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Basket Builder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Investment Thesis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4846320" cy="347472"/>
          </a:xfrm>
          <a:prstGeom prst="rect">
            <a:avLst/>
          </a:prstGeom>
          <a:solidFill>
            <a:srgbClr val="1A2540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019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B"/>
                </a:solidFill>
              </a:rPr>
              <a:t>"AI infrastructure tokens outperforming in 2026"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Suggested Tokens  (SoSoValue Sentiment)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4846320" cy="210312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60604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5880" y="2660904"/>
            <a:ext cx="2286000" cy="109728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25880" y="2660904"/>
            <a:ext cx="283464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60604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12.5%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6060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Sent +78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852928"/>
            <a:ext cx="4846320" cy="210312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8529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25880" y="2907792"/>
            <a:ext cx="2286000" cy="109728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25880" y="2907792"/>
            <a:ext cx="283464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8529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12.5%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285292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Sent +72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099816"/>
            <a:ext cx="4846320" cy="210312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09981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25880" y="3154680"/>
            <a:ext cx="2286000" cy="109728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3154680"/>
            <a:ext cx="283464" cy="10972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09981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12.5%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30998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Sent +65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346704"/>
            <a:ext cx="4846320" cy="210312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34670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25880" y="3401568"/>
            <a:ext cx="2286000" cy="109728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325880" y="3401568"/>
            <a:ext cx="283464" cy="10972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334670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12.5%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0" y="334670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Sent +60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593592"/>
            <a:ext cx="4846320" cy="210312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59359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25880" y="3648456"/>
            <a:ext cx="2286000" cy="109728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325880" y="3648456"/>
            <a:ext cx="283464" cy="109728"/>
          </a:xfrm>
          <a:prstGeom prst="rect">
            <a:avLst/>
          </a:prstGeom>
          <a:solidFill>
            <a:srgbClr val="8B85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0" y="359359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12.5%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359359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5FF"/>
                </a:solidFill>
              </a:rPr>
              <a:t>Sent +55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3886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Fee Configuration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4096512"/>
            <a:ext cx="4846320" cy="292608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40965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Management Fee: 1.0%  ·  Performance Fee: 10%  ·  Copy Fee: 0.5%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4462272"/>
            <a:ext cx="4846320" cy="3840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✨  Publish to Marketplace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760720" y="1188720"/>
            <a:ext cx="3108960" cy="804672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45000"/>
              </a:srgbClr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325880"/>
            <a:ext cx="292608" cy="292608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6291072" y="1280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AI-Generated Description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291072" y="15727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Claude writes compelling thesis based on sentiment data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760720" y="2121408"/>
            <a:ext cx="3108960" cy="804672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45000"/>
              </a:srgbClr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258568"/>
            <a:ext cx="292608" cy="292608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6291072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 Monthly Rebalance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6291072" y="25054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SoDEX executes trades, fees collected automatically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5760720" y="3054096"/>
            <a:ext cx="3108960" cy="804672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45000"/>
              </a:srgbClr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191256"/>
            <a:ext cx="292608" cy="292608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6291072" y="3145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Follower Marketplace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6291072" y="34381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487+ followers subscribe and invest in your basket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5760720" y="3986784"/>
            <a:ext cx="3108960" cy="804672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45000"/>
              </a:srgbClr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4123944"/>
            <a:ext cx="292608" cy="29260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6291072" y="40782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Performance Tracking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6291072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Live P&amp;L, volatility, Sharpe ratio, drawdown metrics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$30–50B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CC"/>
                </a:solidFill>
              </a:rPr>
              <a:t>Total Addressable Market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724912" cy="1417320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272491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6272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On-Chain Indices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Growing 50% YoY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057400"/>
            <a:ext cx="2724912" cy="1417320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057400"/>
            <a:ext cx="2724912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76272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Crypto Index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0358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90% off-chain opportunity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724912" cy="1417320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057400"/>
            <a:ext cx="272491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176272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$500B+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 Fund Mgmt (5yr)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0358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Institutional capital flowing 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92A4"/>
                </a:solidFill>
              </a:rPr>
              <a:t>PATH TO REVENUE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20040" y="3931920"/>
          <a:ext cx="850392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Simple: We win when creators win.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487168" cy="868680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6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984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1188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Management Fee Commission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" y="14996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15% of creator's 1% annual fee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" y="1737360"/>
            <a:ext cx="2212848" cy="164592"/>
          </a:xfrm>
          <a:prstGeom prst="rect">
            <a:avLst/>
          </a:prstGeom>
          <a:solidFill>
            <a:srgbClr val="6C63FF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84632" y="173736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Primary / Recurring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99232" y="1097280"/>
            <a:ext cx="2487168" cy="868680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6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2984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1188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Fee Commission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02152" y="14996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15% of gains above 5% threshold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36392" y="1737360"/>
            <a:ext cx="2212848" cy="164592"/>
          </a:xfrm>
          <a:prstGeom prst="rect">
            <a:avLst/>
          </a:prstGeom>
          <a:solidFill>
            <a:srgbClr val="00C2CB">
              <a:alpha val="7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3136392" y="173736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CB"/>
                </a:solidFill>
              </a:rPr>
              <a:t>High-margin / Scalable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7472" y="2148840"/>
            <a:ext cx="2487168" cy="868680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6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35000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" y="2240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Copy Fee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50392" y="25511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15% when followers copy a basket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84632" y="2788920"/>
            <a:ext cx="2212848" cy="164592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484632" y="27889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Network Effect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999232" y="2148840"/>
            <a:ext cx="2487168" cy="868680"/>
          </a:xfrm>
          <a:prstGeom prst="rect">
            <a:avLst/>
          </a:prstGeom>
          <a:solidFill>
            <a:srgbClr val="131D35"/>
          </a:solidFill>
          <a:ln w="6350">
            <a:solidFill>
              <a:srgbClr val="8B85FF">
                <a:alpha val="6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35000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02152" y="2240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Premium Subscriptions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502152" y="25511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$10/month advanced analytics &amp; API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136392" y="2788920"/>
            <a:ext cx="2212848" cy="164592"/>
          </a:xfrm>
          <a:prstGeom prst="rect">
            <a:avLst/>
          </a:prstGeom>
          <a:solidFill>
            <a:srgbClr val="8B85FF">
              <a:alpha val="7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3136392" y="27889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85FF"/>
                </a:solidFill>
              </a:rPr>
              <a:t>$120k/yr at 1k users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47472" y="3200400"/>
            <a:ext cx="5166360" cy="868680"/>
          </a:xfrm>
          <a:prstGeom prst="rect">
            <a:avLst/>
          </a:prstGeom>
          <a:solidFill>
            <a:srgbClr val="131D35"/>
          </a:solidFill>
          <a:ln w="6350">
            <a:solidFill>
              <a:srgbClr val="10B981">
                <a:alpha val="65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8328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1832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Enterprise White-Label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41832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Hedge funds license the platform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069080" y="3456432"/>
            <a:ext cx="1371600" cy="256032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406908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$50k–$500k/yr per firm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715000" y="1097280"/>
            <a:ext cx="3108960" cy="2148840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58978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Fee Flow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897880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Basket AUM: $1M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17920" y="1783080"/>
            <a:ext cx="18288" cy="109728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39" name="Text 32"/>
          <p:cNvSpPr/>
          <p:nvPr/>
        </p:nvSpPr>
        <p:spPr>
          <a:xfrm>
            <a:off x="5897880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Creator Fee: $10,000/yr (1%)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217920" y="2176272"/>
            <a:ext cx="18288" cy="109728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41" name="Text 34"/>
          <p:cNvSpPr/>
          <p:nvPr/>
        </p:nvSpPr>
        <p:spPr>
          <a:xfrm>
            <a:off x="5897880" y="2295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Creator Keeps: $8,500 (85%)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217920" y="2569464"/>
            <a:ext cx="18288" cy="109728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43" name="Text 36"/>
          <p:cNvSpPr/>
          <p:nvPr/>
        </p:nvSpPr>
        <p:spPr>
          <a:xfrm>
            <a:off x="5897880" y="2688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Platform Gets: $1,500 (15%)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347472" y="4133088"/>
            <a:ext cx="8476488" cy="877824"/>
          </a:xfrm>
          <a:prstGeom prst="rect">
            <a:avLst/>
          </a:prstGeom>
          <a:solidFill>
            <a:srgbClr val="0D1525"/>
          </a:solidFill>
          <a:ln w="635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4864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5FF"/>
                </a:solidFill>
              </a:rPr>
              <a:t>REVENUE PROJECTIONS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9436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Year 1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594360" y="4663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$174k</a:t>
            </a:r>
            <a:endParaRPr lang="en-US" sz="1800" dirty="0"/>
          </a:p>
        </p:txBody>
      </p:sp>
      <p:sp>
        <p:nvSpPr>
          <p:cNvPr id="48" name="Text 41"/>
          <p:cNvSpPr/>
          <p:nvPr/>
        </p:nvSpPr>
        <p:spPr>
          <a:xfrm>
            <a:off x="594360" y="4919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50 baskets · $10M AUM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38328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Year 2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3383280" y="4663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$1.81M</a:t>
            </a:r>
            <a:endParaRPr lang="en-US" sz="1800" dirty="0"/>
          </a:p>
        </p:txBody>
      </p:sp>
      <p:sp>
        <p:nvSpPr>
          <p:cNvPr id="51" name="Text 44"/>
          <p:cNvSpPr/>
          <p:nvPr/>
        </p:nvSpPr>
        <p:spPr>
          <a:xfrm>
            <a:off x="3383280" y="4919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500 baskets · $100M AUM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6172200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Year 3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6172200" y="4663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$9.15M</a:t>
            </a:r>
            <a:endParaRPr lang="en-US" sz="1800" dirty="0"/>
          </a:p>
        </p:txBody>
      </p:sp>
      <p:sp>
        <p:nvSpPr>
          <p:cNvPr id="54" name="Text 47"/>
          <p:cNvSpPr/>
          <p:nvPr/>
        </p:nvSpPr>
        <p:spPr>
          <a:xfrm>
            <a:off x="6172200" y="4919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2,000 baskets · $500M AUM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8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85FF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structural advantages that are hard to replicate.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120640" cy="3657600"/>
          </a:xfrm>
          <a:prstGeom prst="rect">
            <a:avLst/>
          </a:prstGeom>
          <a:solidFill>
            <a:srgbClr val="0D1525"/>
          </a:solidFill>
          <a:ln w="6350">
            <a:solidFill>
              <a:srgbClr val="6C63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120640" cy="320040"/>
          </a:xfrm>
          <a:prstGeom prst="rect">
            <a:avLst/>
          </a:prstGeom>
          <a:solidFill>
            <a:srgbClr val="6C63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70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Competitor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Feature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554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Us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Trading Bots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94760" y="1554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Grayscale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874520"/>
            <a:ext cx="5029200" cy="365760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No-Code Index Builder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258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Creator Revenue Share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58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85%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2585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2258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42616"/>
            <a:ext cx="5029200" cy="365760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6426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Auto Rebalancing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6426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Partial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94760" y="2642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0266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Time to Launch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30266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 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30266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N/A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94760" y="3026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year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410712"/>
            <a:ext cx="5029200" cy="365760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Mgmt Fee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34107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410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N/A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94760" y="34107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Decentralized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794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Partial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9476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4178808"/>
            <a:ext cx="5029200" cy="365760"/>
          </a:xfrm>
          <a:prstGeom prst="rect">
            <a:avLst/>
          </a:prstGeom>
          <a:solidFill>
            <a:srgbClr val="141E33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178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SoSoValue Integration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11680" y="4178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Native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0" y="4178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94760" y="4178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0" y="1170432"/>
            <a:ext cx="3154680" cy="621792"/>
          </a:xfrm>
          <a:prstGeom prst="rect">
            <a:avLst/>
          </a:prstGeom>
          <a:solidFill>
            <a:srgbClr val="131D35"/>
          </a:solidFill>
          <a:ln w="6350">
            <a:solidFill>
              <a:srgbClr val="8B85FF">
                <a:alpha val="45000"/>
              </a:srgbClr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35024"/>
            <a:ext cx="256032" cy="25603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144768" y="124358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Effects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144768" y="149047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More creators → more followers → more AUM → more creators. Self-reinforcing flywheel.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669280" y="1892808"/>
            <a:ext cx="3154680" cy="621792"/>
          </a:xfrm>
          <a:prstGeom prst="rect">
            <a:avLst/>
          </a:prstGeom>
          <a:solidFill>
            <a:srgbClr val="131D35"/>
          </a:solidFill>
          <a:ln w="6350">
            <a:solidFill>
              <a:srgbClr val="8B85FF">
                <a:alpha val="45000"/>
              </a:srgbClr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057400"/>
            <a:ext cx="256032" cy="256032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144768" y="196596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Creator Lock-in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6144768" y="22128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Creators earn 85% recurring fees. Switching = losing followers &amp; income permanently.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5669280" y="2615184"/>
            <a:ext cx="3154680" cy="621792"/>
          </a:xfrm>
          <a:prstGeom prst="rect">
            <a:avLst/>
          </a:prstGeom>
          <a:solidFill>
            <a:srgbClr val="131D35"/>
          </a:solidFill>
          <a:ln w="6350">
            <a:solidFill>
              <a:srgbClr val="8B85FF">
                <a:alpha val="45000"/>
              </a:srgbClr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779776"/>
            <a:ext cx="256032" cy="256032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144768" y="268833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SSI Ecosystem Fit</a:t>
            </a:r>
            <a:endParaRPr lang="en-US" sz="1100" dirty="0"/>
          </a:p>
        </p:txBody>
      </p:sp>
      <p:sp>
        <p:nvSpPr>
          <p:cNvPr id="55" name="Text 50"/>
          <p:cNvSpPr/>
          <p:nvPr/>
        </p:nvSpPr>
        <p:spPr>
          <a:xfrm>
            <a:off x="6144768" y="29352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Native integration with SSI Protocol + SoSoValue + SoDEX — impossible to replicate quickly.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5669280" y="3337560"/>
            <a:ext cx="3154680" cy="621792"/>
          </a:xfrm>
          <a:prstGeom prst="rect">
            <a:avLst/>
          </a:prstGeom>
          <a:solidFill>
            <a:srgbClr val="131D35"/>
          </a:solidFill>
          <a:ln w="6350">
            <a:solidFill>
              <a:srgbClr val="8B85FF">
                <a:alpha val="45000"/>
              </a:srgbClr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502152"/>
            <a:ext cx="256032" cy="256032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144768" y="341071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Moat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6144768" y="365760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First-mover data on basket performance enables better AI recommendations &amp; creator tools.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5669280" y="4059936"/>
            <a:ext cx="3154680" cy="621792"/>
          </a:xfrm>
          <a:prstGeom prst="rect">
            <a:avLst/>
          </a:prstGeom>
          <a:solidFill>
            <a:srgbClr val="131D35"/>
          </a:solidFill>
          <a:ln w="6350">
            <a:solidFill>
              <a:srgbClr val="8B85FF">
                <a:alpha val="45000"/>
              </a:srgbClr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224528"/>
            <a:ext cx="256032" cy="256032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6144768" y="41330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 Definition</a:t>
            </a:r>
            <a:endParaRPr lang="en-US" sz="1100" dirty="0"/>
          </a:p>
        </p:txBody>
      </p:sp>
      <p:sp>
        <p:nvSpPr>
          <p:cNvPr id="63" name="Text 56"/>
          <p:cNvSpPr/>
          <p:nvPr/>
        </p:nvSpPr>
        <p:spPr>
          <a:xfrm>
            <a:off x="6144768" y="43799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CC"/>
                </a:solidFill>
              </a:rPr>
              <a:t>We name &amp; own the category: 'Shopify for crypto indices.' Brand becomes the verb.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MVP built in 3 weeks. Already validated.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1234440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MVP Built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2011680" cy="1234440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70432"/>
            <a:ext cx="201168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Signups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Beta Interest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170432"/>
            <a:ext cx="2011680" cy="1234440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70432"/>
            <a:ext cx="201168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1772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Hedge Funds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White-Label Inquiries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170432"/>
            <a:ext cx="2011680" cy="1234440"/>
          </a:xfrm>
          <a:prstGeom prst="rect">
            <a:avLst/>
          </a:prstGeom>
          <a:solidFill>
            <a:srgbClr val="131D35"/>
          </a:solidFill>
          <a:ln w="6350">
            <a:solidFill>
              <a:srgbClr val="10B981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70432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261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Baskets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Test AUM Deployed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578608"/>
            <a:ext cx="5120640" cy="2423160"/>
          </a:xfrm>
          <a:prstGeom prst="rect">
            <a:avLst/>
          </a:prstGeom>
          <a:solidFill>
            <a:srgbClr val="0D1525"/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578608"/>
            <a:ext cx="512064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25786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What's Already Built &amp; Working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71800"/>
            <a:ext cx="182880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13232" y="294436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</a:rPr>
              <a:t>Working basket creation UI with AI description generation</a:t>
            </a:r>
            <a:endParaRPr lang="en-US" sz="10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3232" y="326440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</a:rPr>
              <a:t>Real SoSoValue sentiment API integration</a:t>
            </a:r>
            <a:endParaRPr lang="en-US" sz="10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8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3232" y="358444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</a:rPr>
              <a:t>SoDEX execution (testnet) — 100% successful rebalances</a:t>
            </a:r>
            <a:endParaRPr lang="en-US" sz="10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13232" y="390448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</a:rPr>
              <a:t>Smart contracts deployed to Arbitrum Sepolia</a:t>
            </a:r>
            <a:endParaRPr lang="en-US" sz="10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51960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3232" y="422452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</a:rPr>
              <a:t>Live dashboard: performance, fees, follower tracking</a:t>
            </a:r>
            <a:endParaRPr lang="en-US" sz="10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7200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3232" y="454456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</a:rPr>
              <a:t>Fee distribution engine validated &amp; automated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669280" y="2578608"/>
            <a:ext cx="3154680" cy="2423160"/>
          </a:xfrm>
          <a:prstGeom prst="rect">
            <a:avLst/>
          </a:prstGeom>
          <a:solidFill>
            <a:srgbClr val="0D1525"/>
          </a:solidFill>
          <a:ln w="6350">
            <a:solidFill>
              <a:srgbClr val="F5A623">
                <a:alpha val="7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669280" y="2578608"/>
            <a:ext cx="3154680" cy="292608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42" name="Text 34"/>
          <p:cNvSpPr/>
          <p:nvPr/>
        </p:nvSpPr>
        <p:spPr>
          <a:xfrm>
            <a:off x="5806440" y="2578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Hackathon Deliverables</a:t>
            </a:r>
            <a:endParaRPr lang="en-US" sz="11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08" y="2999232"/>
            <a:ext cx="182880" cy="18288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035040" y="2971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Live demo on Vercel</a:t>
            </a:r>
            <a:endParaRPr lang="en-US" sz="11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3383280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035040" y="3355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Backend on Render/Railway</a:t>
            </a:r>
            <a:endParaRPr lang="en-US" sz="11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9008" y="3767328"/>
            <a:ext cx="182880" cy="1828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035040" y="37398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Smart contract on Arbiscan</a:t>
            </a:r>
            <a:endParaRPr lang="en-US" sz="11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9008" y="4151376"/>
            <a:ext cx="182880" cy="18288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035040" y="4123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GitHub repo (200+ commits)</a:t>
            </a:r>
            <a:endParaRPr lang="en-US" sz="11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9008" y="4535424"/>
            <a:ext cx="182880" cy="18288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035040" y="4507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5-min walkthrough video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85FF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4-phase creator-led growth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2029968" cy="3584448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70432"/>
            <a:ext cx="2029968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261872"/>
            <a:ext cx="502920" cy="502920"/>
          </a:xfrm>
          <a:prstGeom prst="ellipse">
            <a:avLst/>
          </a:prstGeom>
          <a:solidFill>
            <a:srgbClr val="6C63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Community Launch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Months 1–3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468880"/>
            <a:ext cx="1828800" cy="256032"/>
          </a:xfrm>
          <a:prstGeom prst="rect">
            <a:avLst/>
          </a:prstGeom>
          <a:solidFill>
            <a:srgbClr val="6C63FF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$5M AUM · 50 Baskets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Hackathon winner announcement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Beta to 100 power users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Twitter/Discord crypto community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Product Hunt launch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170432"/>
            <a:ext cx="2029968" cy="3584448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170432"/>
            <a:ext cx="2029968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18688" y="1261872"/>
            <a:ext cx="502920" cy="502920"/>
          </a:xfrm>
          <a:prstGeom prst="ellipse">
            <a:avLst/>
          </a:prstGeom>
          <a:solidFill>
            <a:srgbClr val="00C2CB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1868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578608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Creator Program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Months 4–6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78608" y="2468880"/>
            <a:ext cx="1828800" cy="256032"/>
          </a:xfrm>
          <a:prstGeom prst="rect">
            <a:avLst/>
          </a:prstGeom>
          <a:solidFill>
            <a:srgbClr val="00C2CB">
              <a:alpha val="7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578608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CB"/>
                </a:solidFill>
              </a:rPr>
              <a:t>$50M AUM · 500 Baskets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78608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Top 20 trader invitation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78608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Revenue share blog (case studies)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Creator contests &amp; prizes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78608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Ambassador program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45152" y="1170432"/>
            <a:ext cx="2029968" cy="3584448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1170432"/>
            <a:ext cx="20299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Shape 29"/>
          <p:cNvSpPr/>
          <p:nvPr/>
        </p:nvSpPr>
        <p:spPr>
          <a:xfrm>
            <a:off x="5394960" y="1261872"/>
            <a:ext cx="502920" cy="502920"/>
          </a:xfrm>
          <a:prstGeom prst="ellipse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548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Institutional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Months 7–12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468880"/>
            <a:ext cx="1828800" cy="256032"/>
          </a:xfrm>
          <a:prstGeom prst="rect">
            <a:avLst/>
          </a:prstGeom>
          <a:solidFill>
            <a:srgbClr val="F5A623">
              <a:alpha val="7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</a:rPr>
              <a:t>$200M AUM · 5 Clients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Hedge fund white-label outreach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Crypto fund conferences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Tier-1 VC partnerships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Enterprise case studies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21424" y="1170432"/>
            <a:ext cx="2029968" cy="3584448"/>
          </a:xfrm>
          <a:prstGeom prst="rect">
            <a:avLst/>
          </a:prstGeom>
          <a:solidFill>
            <a:srgbClr val="131D35"/>
          </a:solidFill>
          <a:ln w="6350">
            <a:solidFill>
              <a:srgbClr val="10B981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21424" y="1170432"/>
            <a:ext cx="202996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7571232" y="1261872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57123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4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31152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Expansion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31152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Months 13–24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31152" y="2468880"/>
            <a:ext cx="1828800" cy="256032"/>
          </a:xfrm>
          <a:prstGeom prst="rect">
            <a:avLst/>
          </a:prstGeom>
          <a:solidFill>
            <a:srgbClr val="10B981">
              <a:alpha val="7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931152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$1B+ AUM · $10M ARR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31152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Leveraged baskets (2x/3x)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31152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Asia &amp; EU expansion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31152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Options/shorts integration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31152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›  Series A conversations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92608" y="4828032"/>
            <a:ext cx="8558784" cy="256032"/>
          </a:xfrm>
          <a:prstGeom prst="rect">
            <a:avLst/>
          </a:prstGeom>
          <a:solidFill>
            <a:srgbClr val="0D1525"/>
          </a:solidFill>
          <a:ln w="6350">
            <a:solidFill>
              <a:srgbClr val="6C63FF">
                <a:alpha val="4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8280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$5M AUM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487168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43200" y="48280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$50M AUM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73168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0" y="48280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$200M AUM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59168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15200" y="482803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$1B+ AUM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FINANCIALS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Conservative path to $9M+ ARR by Year 3.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43200" cy="2880360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7432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Year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$174k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$10M AUM  ·  50 baskets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468880" cy="18288"/>
          </a:xfrm>
          <a:prstGeom prst="rect">
            <a:avLst/>
          </a:prstGeom>
          <a:solidFill>
            <a:srgbClr val="8892A4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Management Fees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39112" y="25603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$90k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Premium Subs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39112" y="28529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$24k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Copy Fees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39112" y="3145536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$15k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438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Other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39112" y="3438144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$45k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1170432"/>
            <a:ext cx="2743200" cy="2880360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1170432"/>
            <a:ext cx="27432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3319272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Year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15361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$1.81M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319272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$100M AUM  ·  500 baskets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2468880"/>
            <a:ext cx="2468880" cy="18288"/>
          </a:xfrm>
          <a:prstGeom prst="rect">
            <a:avLst/>
          </a:prstGeom>
          <a:solidFill>
            <a:srgbClr val="8892A4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19272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Management Fees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01184" y="25603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$1.5M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9272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Performance Fees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01184" y="28529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$250k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9272" y="3145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Premium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01184" y="3145536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2CB"/>
                </a:solidFill>
              </a:rPr>
              <a:t>$60k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1170432"/>
            <a:ext cx="2743200" cy="2880360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8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170432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Year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15361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$9.15M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617220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$500M AUM  ·  2,000 baskets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2468880"/>
            <a:ext cx="2468880" cy="18288"/>
          </a:xfrm>
          <a:prstGeom prst="rect">
            <a:avLst/>
          </a:prstGeom>
          <a:solidFill>
            <a:srgbClr val="8892A4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Management Fees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54112" y="25603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$7.5M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Perf Fees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54112" y="28529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$1M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45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C"/>
                </a:solidFill>
              </a:rPr>
              <a:t>Enterprise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54112" y="3145536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$500k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187952"/>
            <a:ext cx="8503920" cy="841248"/>
          </a:xfrm>
          <a:prstGeom prst="rect">
            <a:avLst/>
          </a:prstGeom>
          <a:solidFill>
            <a:srgbClr val="0D1525"/>
          </a:solidFill>
          <a:ln w="6350">
            <a:solidFill>
              <a:srgbClr val="00C2CB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4187952"/>
            <a:ext cx="8503920" cy="292608"/>
          </a:xfrm>
          <a:prstGeom prst="rect">
            <a:avLst/>
          </a:prstGeom>
          <a:solidFill>
            <a:srgbClr val="00C2CB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" y="4187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OF $500k SEED FUNDS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526280"/>
            <a:ext cx="164592" cy="16459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526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Engineering  40%  $200k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06040" y="4526280"/>
            <a:ext cx="164592" cy="1645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0" y="4526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Marketing &amp; GTM  30%  $150k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4526280"/>
            <a:ext cx="164592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4526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Operations &amp; Infra  20%  $100k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12280" y="4526280"/>
            <a:ext cx="164592" cy="164592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53" name="Text 51"/>
          <p:cNvSpPr/>
          <p:nvPr/>
        </p:nvSpPr>
        <p:spPr>
          <a:xfrm>
            <a:off x="7040880" y="45262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Contingency  10%  $50k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6C63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THE 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Democratizing on-chain fund creation for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the next billion crypto users.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783080"/>
            <a:ext cx="4572000" cy="713232"/>
          </a:xfrm>
          <a:prstGeom prst="rect">
            <a:avLst/>
          </a:prstGeom>
          <a:solidFill>
            <a:srgbClr val="131D35"/>
          </a:solidFill>
          <a:ln w="6350">
            <a:solidFill>
              <a:srgbClr val="6C63FF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0195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847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86968" y="2231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Active basket creators by 2031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" y="2624328"/>
            <a:ext cx="4572000" cy="713232"/>
          </a:xfrm>
          <a:prstGeom prst="rect">
            <a:avLst/>
          </a:prstGeom>
          <a:solidFill>
            <a:srgbClr val="131D35"/>
          </a:solidFill>
          <a:ln w="6350">
            <a:solidFill>
              <a:srgbClr val="00C2CB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968" y="2688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$100B+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86968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AUM across all baskets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7472" y="3465576"/>
            <a:ext cx="4572000" cy="713232"/>
          </a:xfrm>
          <a:prstGeom prst="rect">
            <a:avLst/>
          </a:prstGeom>
          <a:solidFill>
            <a:srgbClr val="131D35"/>
          </a:solidFill>
          <a:ln w="6350">
            <a:solidFill>
              <a:srgbClr val="F5A623">
                <a:alpha val="6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844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86968" y="3913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Countries using the platform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47472" y="4343400"/>
            <a:ext cx="4572000" cy="685800"/>
          </a:xfrm>
          <a:prstGeom prst="rect">
            <a:avLst/>
          </a:prstGeom>
          <a:solidFill>
            <a:srgbClr val="0D1525"/>
          </a:solidFill>
          <a:ln w="635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4389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⚡  Why Now?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46177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0CC"/>
                </a:solidFill>
              </a:rPr>
              <a:t>SoSoValue + SoDEX + SSI Protocol just matured. The pieces exist. We compose them.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212080" y="1783080"/>
            <a:ext cx="3657600" cy="3246120"/>
          </a:xfrm>
          <a:prstGeom prst="rect">
            <a:avLst/>
          </a:prstGeom>
          <a:solidFill>
            <a:srgbClr val="0D1525"/>
          </a:solidFill>
          <a:ln w="6350">
            <a:solidFill>
              <a:srgbClr val="F5A623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212080" y="1783080"/>
            <a:ext cx="3657600" cy="320040"/>
          </a:xfrm>
          <a:prstGeom prst="rect">
            <a:avLst/>
          </a:prstGeom>
          <a:solidFill>
            <a:srgbClr val="F5A623">
              <a:alpha val="85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5376672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ASK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376672" y="2194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 Seed Round</a:t>
            </a:r>
            <a:endParaRPr lang="en-US" sz="2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724912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2697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6-month runway to $50M AUM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072384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23560" y="30449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Product team (2 engineers + PM)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41985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3924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Creator recruitment &amp; GTM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3767328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23560" y="3739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10 enterprise clients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4114800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623560" y="40873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Series A readiness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212080" y="5138928"/>
            <a:ext cx="3657600" cy="384048"/>
          </a:xfrm>
          <a:prstGeom prst="rect">
            <a:avLst/>
          </a:prstGeom>
          <a:solidFill>
            <a:srgbClr val="6C63FF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5285232" y="51389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"The creators win. We win. DeFi wins."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365760" y="5120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github.com/ssi-strategy-factory  ·  demo.ssi-factory.com  ·  SoSoValue Buildathon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SSI Strategy Factory</dc:title>
  <dc:subject>PptxGenJS Presentation</dc:subject>
  <dc:creator>PptxGenJS</dc:creator>
  <cp:lastModifiedBy>PptxGenJS</cp:lastModifiedBy>
  <cp:revision>1</cp:revision>
  <dcterms:created xsi:type="dcterms:W3CDTF">2026-05-12T05:18:02Z</dcterms:created>
  <dcterms:modified xsi:type="dcterms:W3CDTF">2026-05-12T05:18:02Z</dcterms:modified>
</cp:coreProperties>
</file>